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 4 个议题，预计 40 分钟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数据来源：行业协会 2025 年报（示意）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详细设计见架构文档第 3 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M0 验收口径：双端断言全绿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1_title"/>
          <p:cNvSpPr/>
          <p:nvPr/>
        </p:nvSpPr>
        <p:spPr>
          <a:xfrm>
            <a:off x="822960" y="219456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97" b="1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产品规划评审</a:t>
            </a:r>
            <a:endParaRPr lang="en-US" sz="3997" dirty="0"/>
          </a:p>
        </p:txBody>
      </p:sp>
      <p:sp>
        <p:nvSpPr>
          <p:cNvPr id="3" name="s01_subtitle"/>
          <p:cNvSpPr/>
          <p:nvPr/>
        </p:nvSpPr>
        <p:spPr>
          <a:xfrm>
            <a:off x="822960" y="3840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95" dirty="0">
                <a:solidFill>
                  <a:srgbClr val="808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声明式可编辑 PPT 管线 · M0 端到端演示</a:t>
            </a:r>
            <a:endParaRPr lang="en-US" sz="1995" dirty="0"/>
          </a:p>
        </p:txBody>
      </p:sp>
      <p:sp>
        <p:nvSpPr>
          <p:cNvPr id="4" name="s01_meta"/>
          <p:cNvSpPr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6" dirty="0">
                <a:solidFill>
                  <a:srgbClr val="808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2026-09-04 · 内部评审材料</a:t>
            </a:r>
            <a:endParaRPr lang="en-US" sz="115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2_title"/>
          <p:cNvSpPr/>
          <p:nvPr/>
        </p:nvSpPr>
        <p:spPr>
          <a:xfrm>
            <a:off x="548640" y="4114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96" b="1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议程</a:t>
            </a:r>
            <a:endParaRPr lang="en-US" sz="2796" dirty="0"/>
          </a:p>
        </p:txBody>
      </p:sp>
      <p:sp>
        <p:nvSpPr>
          <p:cNvPr id="3" name="s02_body"/>
          <p:cNvSpPr/>
          <p:nvPr/>
        </p:nvSpPr>
        <p:spPr>
          <a:xfrm>
            <a:off x="548640" y="1645920"/>
            <a:ext cx="1109167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95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市场竞争格局回顾</a:t>
            </a:r>
            <a:endParaRPr lang="en-US" sz="1795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95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技术方案与架构决策</a:t>
            </a:r>
            <a:endParaRPr lang="en-US" sz="1795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95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资源与排期</a:t>
            </a:r>
            <a:endParaRPr lang="en-US" sz="1795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95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风险与对策</a:t>
            </a:r>
            <a:endParaRPr lang="en-US" sz="179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3_title"/>
          <p:cNvSpPr/>
          <p:nvPr/>
        </p:nvSpPr>
        <p:spPr>
          <a:xfrm>
            <a:off x="548640" y="4114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96" b="1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市场竞争格局</a:t>
            </a:r>
            <a:endParaRPr lang="en-US" sz="2796" dirty="0"/>
          </a:p>
        </p:txBody>
      </p:sp>
      <p:sp>
        <p:nvSpPr>
          <p:cNvPr id="3" name="s03_left"/>
          <p:cNvSpPr/>
          <p:nvPr/>
        </p:nvSpPr>
        <p:spPr>
          <a:xfrm>
            <a:off x="548640" y="1645920"/>
            <a:ext cx="5367528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95" b="1" dirty="0">
                <a:solidFill>
                  <a:srgbClr val="2F2F2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CR5 集中度 62%，同比 +3pct</a:t>
            </a:r>
            <a:endParaRPr lang="en-US" sz="1795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95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头部两家产能扩张趋于谨慎</a:t>
            </a:r>
            <a:endParaRPr lang="en-US" sz="1795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95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细分赛道 A 增速领先行业</a:t>
            </a:r>
            <a:endParaRPr lang="en-US" sz="1795" dirty="0"/>
          </a:p>
        </p:txBody>
      </p:sp>
      <p:sp>
        <p:nvSpPr>
          <p:cNvPr id="4" name="s03_right"/>
          <p:cNvSpPr/>
          <p:nvPr/>
        </p:nvSpPr>
        <p:spPr>
          <a:xfrm>
            <a:off x="6281928" y="1645920"/>
            <a:ext cx="5367528" cy="4663440"/>
          </a:xfrm>
          <a:prstGeom prst="rect">
            <a:avLst/>
          </a:prstGeom>
          <a:solidFill>
            <a:srgbClr val="F7F7F7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5" name="s03_right_bar1"/>
          <p:cNvSpPr/>
          <p:nvPr/>
        </p:nvSpPr>
        <p:spPr>
          <a:xfrm>
            <a:off x="6523467" y="2560320"/>
            <a:ext cx="590428" cy="3108960"/>
          </a:xfrm>
          <a:prstGeom prst="rect">
            <a:avLst/>
          </a:prstGeom>
          <a:solidFill>
            <a:srgbClr val="2F2F2F"/>
          </a:solidFill>
          <a:ln w="6350">
            <a:solidFill>
              <a:srgbClr val="2F2F2F"/>
            </a:solidFill>
            <a:prstDash val="solid"/>
          </a:ln>
        </p:spPr>
      </p:sp>
      <p:sp>
        <p:nvSpPr>
          <p:cNvPr id="6" name="s03_right_bar2"/>
          <p:cNvSpPr/>
          <p:nvPr/>
        </p:nvSpPr>
        <p:spPr>
          <a:xfrm>
            <a:off x="7596972" y="3078480"/>
            <a:ext cx="590428" cy="2590800"/>
          </a:xfrm>
          <a:prstGeom prst="rect">
            <a:avLst/>
          </a:prstGeom>
          <a:solidFill>
            <a:srgbClr val="2F2F2F"/>
          </a:solidFill>
          <a:ln w="6350">
            <a:solidFill>
              <a:srgbClr val="2F2F2F"/>
            </a:solidFill>
            <a:prstDash val="solid"/>
          </a:ln>
        </p:spPr>
      </p:sp>
      <p:sp>
        <p:nvSpPr>
          <p:cNvPr id="7" name="s03_right_bar3"/>
          <p:cNvSpPr/>
          <p:nvPr/>
        </p:nvSpPr>
        <p:spPr>
          <a:xfrm>
            <a:off x="8670478" y="3769360"/>
            <a:ext cx="590428" cy="1899920"/>
          </a:xfrm>
          <a:prstGeom prst="rect">
            <a:avLst/>
          </a:prstGeom>
          <a:solidFill>
            <a:srgbClr val="2F2F2F"/>
          </a:solidFill>
          <a:ln w="6350">
            <a:solidFill>
              <a:srgbClr val="2F2F2F"/>
            </a:solidFill>
            <a:prstDash val="solid"/>
          </a:ln>
        </p:spPr>
      </p:sp>
      <p:sp>
        <p:nvSpPr>
          <p:cNvPr id="8" name="s03_right_bar4"/>
          <p:cNvSpPr/>
          <p:nvPr/>
        </p:nvSpPr>
        <p:spPr>
          <a:xfrm>
            <a:off x="9743984" y="4114800"/>
            <a:ext cx="590428" cy="1554480"/>
          </a:xfrm>
          <a:prstGeom prst="rect">
            <a:avLst/>
          </a:prstGeom>
          <a:solidFill>
            <a:srgbClr val="2F2F2F"/>
          </a:solidFill>
          <a:ln w="6350">
            <a:solidFill>
              <a:srgbClr val="2F2F2F"/>
            </a:solidFill>
            <a:prstDash val="solid"/>
          </a:ln>
        </p:spPr>
      </p:sp>
      <p:sp>
        <p:nvSpPr>
          <p:cNvPr id="9" name="s03_right_bar5"/>
          <p:cNvSpPr/>
          <p:nvPr/>
        </p:nvSpPr>
        <p:spPr>
          <a:xfrm>
            <a:off x="10817489" y="4114800"/>
            <a:ext cx="590428" cy="1554480"/>
          </a:xfrm>
          <a:prstGeom prst="rect">
            <a:avLst/>
          </a:prstGeom>
          <a:solidFill>
            <a:srgbClr val="2F2F2F"/>
          </a:solidFill>
          <a:ln w="6350">
            <a:solidFill>
              <a:srgbClr val="2F2F2F"/>
            </a:solidFill>
            <a:prstDash val="solid"/>
          </a:ln>
        </p:spPr>
      </p:sp>
      <p:sp>
        <p:nvSpPr>
          <p:cNvPr id="10" name="s03_right_labels"/>
          <p:cNvSpPr/>
          <p:nvPr/>
        </p:nvSpPr>
        <p:spPr>
          <a:xfrm>
            <a:off x="6281928" y="5715000"/>
            <a:ext cx="5367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08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公司 A 18 · 公司 B 15 · 公司 C 11 · 公司 D 9 · 公司 E 9</a:t>
            </a:r>
            <a:endParaRPr lang="en-US" sz="800" dirty="0"/>
          </a:p>
        </p:txBody>
      </p:sp>
      <p:sp>
        <p:nvSpPr>
          <p:cNvPr id="11" name="s03_right_caption"/>
          <p:cNvSpPr/>
          <p:nvPr/>
        </p:nvSpPr>
        <p:spPr>
          <a:xfrm>
            <a:off x="6281928" y="5989320"/>
            <a:ext cx="5367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CR5 市占率（示意）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4_title"/>
          <p:cNvSpPr/>
          <p:nvPr/>
        </p:nvSpPr>
        <p:spPr>
          <a:xfrm>
            <a:off x="548640" y="4114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96" b="1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技术方案与架构决策</a:t>
            </a:r>
            <a:endParaRPr lang="en-US" sz="2796" dirty="0"/>
          </a:p>
        </p:txBody>
      </p:sp>
      <p:sp>
        <p:nvSpPr>
          <p:cNvPr id="3" name="s04_body"/>
          <p:cNvSpPr/>
          <p:nvPr/>
        </p:nvSpPr>
        <p:spPr>
          <a:xfrm>
            <a:off x="548640" y="1645920"/>
            <a:ext cx="1109167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95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DSL 分片存储，单页独立生成</a:t>
            </a:r>
            <a:endParaRPr lang="en-US" sz="1795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95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双渲染器共享同一元素树</a:t>
            </a:r>
            <a:endParaRPr lang="en-US" sz="1795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95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渲染时强制布局断言</a:t>
            </a:r>
            <a:endParaRPr lang="en-US" sz="1795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95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内容与样式彻底解耦</a:t>
            </a:r>
            <a:endParaRPr lang="en-US" sz="179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05_title"/>
          <p:cNvSpPr/>
          <p:nvPr/>
        </p:nvSpPr>
        <p:spPr>
          <a:xfrm>
            <a:off x="548640" y="41148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96" b="1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风险与对策</a:t>
            </a:r>
            <a:endParaRPr lang="en-US" sz="2796" dirty="0"/>
          </a:p>
        </p:txBody>
      </p:sp>
      <p:sp>
        <p:nvSpPr>
          <p:cNvPr id="3" name="s05_left"/>
          <p:cNvSpPr/>
          <p:nvPr/>
        </p:nvSpPr>
        <p:spPr>
          <a:xfrm>
            <a:off x="548640" y="1645920"/>
            <a:ext cx="5367528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95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测量与真实渲染存在细微差异</a:t>
            </a:r>
            <a:endParaRPr lang="en-US" sz="1795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95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图表终稿需替换原生对象</a:t>
            </a:r>
            <a:endParaRPr lang="en-US" sz="1795" dirty="0"/>
          </a:p>
        </p:txBody>
      </p:sp>
      <p:sp>
        <p:nvSpPr>
          <p:cNvPr id="4" name="s05_right"/>
          <p:cNvSpPr/>
          <p:nvPr/>
        </p:nvSpPr>
        <p:spPr>
          <a:xfrm>
            <a:off x="6281928" y="1645920"/>
            <a:ext cx="5367528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95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M2 落地 golden 渲染比对</a:t>
            </a:r>
            <a:endParaRPr lang="en-US" sz="1795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95" dirty="0">
                <a:solidFill>
                  <a:srgbClr val="33333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M1 起预算硬闸兜底</a:t>
            </a:r>
            <a:endParaRPr lang="en-US" sz="179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demo_m0</dc:title>
  <dc:subject>PptxGenJS Presentation</dc:subject>
  <dc:creator>slides-dsl</dc:creator>
  <cp:lastModifiedBy>slides-dsl</cp:lastModifiedBy>
  <cp:revision>1</cp:revision>
  <dcterms:created xsi:type="dcterms:W3CDTF">2026-09-04T09:24:45Z</dcterms:created>
  <dcterms:modified xsi:type="dcterms:W3CDTF">2026-09-04T09:24:45Z</dcterms:modified>
</cp:coreProperties>
</file>